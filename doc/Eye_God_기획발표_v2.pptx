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72500" y="-2476500"/>
            <a:ext cx="6096000" cy="6096000"/>
          </a:xfrm>
          <a:prstGeom prst="ellipse">
            <a:avLst/>
          </a:prstGeom>
          <a:solidFill>
            <a:srgbClr val="243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476500" y="4381500"/>
            <a:ext cx="4953000" cy="4953000"/>
          </a:xfrm>
          <a:prstGeom prst="ellipse">
            <a:avLst/>
          </a:prstGeom>
          <a:solidFill>
            <a:srgbClr val="1B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3900" y="762000"/>
            <a:ext cx="95250" cy="9525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23900"/>
            <a:ext cx="4762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BE15D"/>
                </a:solidFill>
                <a:latin typeface="맑은 고딕"/>
              </a:rPr>
              <a:t>EYE GOD · 기획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476500"/>
            <a:ext cx="7620000" cy="10477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맑은 고딕"/>
              </a:rPr>
              <a:t>Eye God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619500"/>
            <a:ext cx="8572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7E9EE"/>
                </a:solidFill>
                <a:latin typeface="맑은 고딕"/>
              </a:rPr>
              <a:t>안구건조증 기반 백내장 위험 조기 예측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11480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0A8"/>
                </a:solidFill>
                <a:latin typeface="맑은 고딕"/>
              </a:rPr>
              <a:t>웹캠 하나로 확인하는 눈 건강 — MediaPipe 아이트래킹 기반 브라우저 서비스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5715000"/>
            <a:ext cx="10515600" cy="9525"/>
          </a:xfrm>
          <a:prstGeom prst="rect">
            <a:avLst/>
          </a:prstGeom>
          <a:solidFill>
            <a:srgbClr val="2A2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586740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[팀명]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5867400"/>
            <a:ext cx="46863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7078"/>
                </a:solidFill>
                <a:latin typeface="맑은 고딕"/>
              </a:rPr>
              <a:t>[발표일]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144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E24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905000"/>
            <a:ext cx="4572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E24"/>
                </a:solidFill>
                <a:latin typeface="맑은 고딕"/>
              </a:rPr>
              <a:t>01   개발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2324100"/>
            <a:ext cx="4572000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476500"/>
            <a:ext cx="4572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E24"/>
                </a:solidFill>
                <a:latin typeface="맑은 고딕"/>
              </a:rPr>
              <a:t>02   문제 인식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2895600"/>
            <a:ext cx="4572000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3048000"/>
            <a:ext cx="4572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E24"/>
                </a:solidFill>
                <a:latin typeface="맑은 고딕"/>
              </a:rPr>
              <a:t>03   프로젝트 소개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467100"/>
            <a:ext cx="4572000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3619500"/>
            <a:ext cx="4572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E24"/>
                </a:solidFill>
                <a:latin typeface="맑은 고딕"/>
              </a:rPr>
              <a:t>04   핵심 기능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" y="4038600"/>
            <a:ext cx="4572000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0" y="1905000"/>
            <a:ext cx="5257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E24"/>
                </a:solidFill>
                <a:latin typeface="맑은 고딕"/>
              </a:rPr>
              <a:t>05   기능 01 · 시선추적 미니게임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2324100"/>
            <a:ext cx="5257800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2476500"/>
            <a:ext cx="5257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E24"/>
                </a:solidFill>
                <a:latin typeface="맑은 고딕"/>
              </a:rPr>
              <a:t>06   기능 02 · 눈 깜빡임 모니터링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2895600"/>
            <a:ext cx="5257800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0" y="3048000"/>
            <a:ext cx="5257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E24"/>
                </a:solidFill>
                <a:latin typeface="맑은 고딕"/>
              </a:rPr>
              <a:t>07   기능 03 · 주변 안과 찾기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0" y="3467100"/>
            <a:ext cx="5257800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0" y="3619500"/>
            <a:ext cx="5257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E24"/>
                </a:solidFill>
                <a:latin typeface="맑은 고딕"/>
              </a:rPr>
              <a:t>08   기대 효과 &amp; 향후 계획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0" y="4038600"/>
            <a:ext cx="5257800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8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01 · 개발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144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B1E24"/>
                </a:solidFill>
                <a:latin typeface="맑은 고딕"/>
              </a:rPr>
              <a:t>눈 건강을 위협하는 두 가지 시대적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4097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B7078"/>
                </a:solidFill>
                <a:latin typeface="맑은 고딕"/>
              </a:rPr>
              <a:t>디지털 기기 사용 증가와 고령화 사회 진입이라는 서로 다른 흐름이, 결국 안구건조증과 백내장이라는 눈 건강의 위기로 함께 이어지고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076450"/>
            <a:ext cx="5067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F9A1E"/>
                </a:solidFill>
                <a:latin typeface="맑은 고딕"/>
              </a:rPr>
              <a:t>01   디지털 시대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381250"/>
            <a:ext cx="5067300" cy="4381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381250"/>
            <a:ext cx="50673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디지털 시대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1350" y="2847975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AA0A8"/>
                </a:solidFill>
                <a:latin typeface="맑은 고딕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00" y="3067050"/>
            <a:ext cx="5067300" cy="4381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3067050"/>
            <a:ext cx="50673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화면 이용시간 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1350" y="3533775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AA0A8"/>
                </a:solidFill>
                <a:latin typeface="맑은 고딕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00" y="3752850"/>
            <a:ext cx="5067300" cy="438150"/>
          </a:xfrm>
          <a:prstGeom prst="roundRect">
            <a:avLst>
              <a:gd name="adj" fmla="val 22000"/>
            </a:avLst>
          </a:prstGeom>
          <a:solidFill>
            <a:srgbClr val="EEF9DF"/>
          </a:solidFill>
          <a:ln w="12700">
            <a:solidFill>
              <a:srgbClr val="C7E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3752850"/>
            <a:ext cx="50673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안구건조증으로 인한</a:t>
            </a:r>
          </a:p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합병증 위험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076450"/>
            <a:ext cx="5067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4FBB"/>
                </a:solidFill>
                <a:latin typeface="맑은 고딕"/>
              </a:rPr>
              <a:t>02   고령화 시대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381250"/>
            <a:ext cx="5067300" cy="4381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500" y="2381250"/>
            <a:ext cx="50673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고령화 시대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9650" y="2847975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AA0A8"/>
                </a:solidFill>
                <a:latin typeface="맑은 고딕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500" y="3067050"/>
            <a:ext cx="5067300" cy="4381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6500" y="3067050"/>
            <a:ext cx="50673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백내장 발병 위험 증가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9650" y="3533775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AA0A8"/>
                </a:solidFill>
                <a:latin typeface="맑은 고딕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500" y="3752850"/>
            <a:ext cx="5067300" cy="4381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6500" y="3752850"/>
            <a:ext cx="50673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자가진단의 어려움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9650" y="4219575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AA0A8"/>
                </a:solidFill>
                <a:latin typeface="맑은 고딕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6500" y="4438650"/>
            <a:ext cx="5067300" cy="438150"/>
          </a:xfrm>
          <a:prstGeom prst="roundRect">
            <a:avLst>
              <a:gd name="adj" fmla="val 22000"/>
            </a:avLst>
          </a:prstGeom>
          <a:solidFill>
            <a:srgbClr val="E8F0FE"/>
          </a:solidFill>
          <a:ln w="12700">
            <a:solidFill>
              <a:srgbClr val="C7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6500" y="4438650"/>
            <a:ext cx="50673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눈 건강 위협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8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02 · 문제 인식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525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1E24"/>
                </a:solidFill>
                <a:latin typeface="맑은 고딕"/>
              </a:rPr>
              <a:t>왜 지금, Eye God가 필요한가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1809750"/>
            <a:ext cx="32766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" y="2057400"/>
            <a:ext cx="2819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9A1E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381250"/>
            <a:ext cx="28194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B1E24"/>
                </a:solidFill>
                <a:latin typeface="맑은 고딕"/>
              </a:rPr>
              <a:t>자각하기 어려운 초기 증상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009900"/>
            <a:ext cx="2819400" cy="1428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안구건조증은 초기 자각 증상이 미미해 스스로 상태를 확인하기 어렵고, 그만큼 관리 시점을 놓치기 쉽습니다.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09750"/>
            <a:ext cx="32766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2819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9A1E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81250"/>
            <a:ext cx="28194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B1E24"/>
                </a:solidFill>
                <a:latin typeface="맑은 고딕"/>
              </a:rPr>
              <a:t>낮은 접근성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09900"/>
            <a:ext cx="2819400" cy="1428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병원에 가기 전 눈 상태를 확인할 도구가 마땅치 않고, 막상 방문하려 해도 가까운 안과 정보를 찾는 것부터 번거롭습니다.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809750"/>
            <a:ext cx="32766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7200" y="2057400"/>
            <a:ext cx="2819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9A1E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200" y="2381250"/>
            <a:ext cx="28194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B1E24"/>
                </a:solidFill>
                <a:latin typeface="맑은 고딕"/>
              </a:rPr>
              <a:t>예방보다 사후 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3009900"/>
            <a:ext cx="2819400" cy="1428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기존 눈 건강 관리는 증상이 심해진 뒤 병원을 찾는 흐름이 대부분으로, 평소에 꾸준히 관리할 수단이 부족합니다.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8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03 · 프로젝트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525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E24"/>
                </a:solidFill>
                <a:latin typeface="맑은 고딕"/>
              </a:rPr>
              <a:t>Eye God란?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1619250"/>
            <a:ext cx="10515600" cy="1238250"/>
          </a:xfrm>
          <a:prstGeom prst="roundRect">
            <a:avLst>
              <a:gd name="adj" fmla="val 12000"/>
            </a:avLst>
          </a:prstGeom>
          <a:solidFill>
            <a:srgbClr val="EEF9DF"/>
          </a:solidFill>
          <a:ln w="12700">
            <a:solidFill>
              <a:srgbClr val="C7E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950" y="1809750"/>
            <a:ext cx="9944100" cy="876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1B1E24"/>
                </a:solidFill>
                <a:latin typeface="맑은 고딕"/>
              </a:rPr>
              <a:t>웹캠만으로 시선과 눈 깜빡임을 분석해, 브라우저에서 바로 눈 상태를 확인하고 관리하는 눈 건강 서비스입니다.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810000"/>
            <a:ext cx="2414587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10000"/>
            <a:ext cx="2262187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1B1E24"/>
                </a:solidFill>
                <a:latin typeface="맑은 고딕"/>
              </a:rPr>
              <a:t>브라우저 웹캠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0887" y="4057650"/>
            <a:ext cx="2095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AA0A8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537" y="3810000"/>
            <a:ext cx="2414587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4737" y="3810000"/>
            <a:ext cx="2262187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1B1E24"/>
                </a:solidFill>
                <a:latin typeface="맑은 고딕"/>
              </a:rPr>
              <a:t>MediaPipe Face Landmarker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1225" y="4057650"/>
            <a:ext cx="2095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AA0A8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8875" y="3810000"/>
            <a:ext cx="2414587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5075" y="3810000"/>
            <a:ext cx="2262187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1B1E24"/>
                </a:solidFill>
                <a:latin typeface="맑은 고딕"/>
              </a:rPr>
              <a:t>시선 · 깜빡임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1562" y="4057650"/>
            <a:ext cx="2095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AA0A8"/>
                </a:solidFill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9212" y="3810000"/>
            <a:ext cx="2414587" cy="723900"/>
          </a:xfrm>
          <a:prstGeom prst="roundRect">
            <a:avLst>
              <a:gd name="adj" fmla="val 14000"/>
            </a:avLst>
          </a:prstGeom>
          <a:solidFill>
            <a:srgbClr val="1B1E24"/>
          </a:solidFill>
          <a:ln w="12700">
            <a:solidFill>
              <a:srgbClr val="1B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5412" y="3810000"/>
            <a:ext cx="2262187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눈 건강 케어</a:t>
            </a:r>
          </a:p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(게임 · 모니터링 · 병원 찾기)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62500"/>
            <a:ext cx="952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별도 설치 없이 브라우저에서 바로 실행되며, 사용자 본인의 웹캠를 사용합니다.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8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04 · 핵심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525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E24"/>
                </a:solidFill>
                <a:latin typeface="맑은 고딕"/>
              </a:rPr>
              <a:t>네 가지 핵심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1809750"/>
            <a:ext cx="5143500" cy="20002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6800" y="20193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495550"/>
            <a:ext cx="4686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24"/>
                </a:solidFill>
                <a:latin typeface="맑은 고딕"/>
              </a:rPr>
              <a:t>시선추적 미니게임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819400"/>
            <a:ext cx="46863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캘리브레이션 후 화면 속 목표 지점을 눈으로 맞추는 게임형 콘텐츠입니다.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300" y="1809750"/>
            <a:ext cx="5143500" cy="20002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38900" y="20193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8900" y="2495550"/>
            <a:ext cx="4686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24"/>
                </a:solidFill>
                <a:latin typeface="맑은 고딕"/>
              </a:rPr>
              <a:t>눈 깜빡임 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2819400"/>
            <a:ext cx="46863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실시간 EAR(눈 종횡비) 분석으로 깜빡임 횟수와 상태를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00" y="4000500"/>
            <a:ext cx="5143500" cy="20002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6800" y="4210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4686300"/>
            <a:ext cx="4686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24"/>
                </a:solidFill>
                <a:latin typeface="맑은 고딕"/>
              </a:rPr>
              <a:t>주변 안과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5010150"/>
            <a:ext cx="46863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현재 위치를 기반으로 가까운 안과를 지도와 함께 안내합니다.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300" y="4000500"/>
            <a:ext cx="5143500" cy="20002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8900" y="4210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900" y="4686300"/>
            <a:ext cx="4686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E24"/>
                </a:solidFill>
                <a:latin typeface="맑은 고딕"/>
              </a:rPr>
              <a:t>마이페이지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5010150"/>
            <a:ext cx="46863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로그인 후 최근 게임 기록과 활동을 한 곳에서 확인합니다.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8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05 · 기능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525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E24"/>
                </a:solidFill>
                <a:latin typeface="맑은 고딕"/>
              </a:rPr>
              <a:t>시선추적 미니게임</a:t>
            </a:r>
          </a:p>
        </p:txBody>
      </p:sp>
      <p:sp>
        <p:nvSpPr>
          <p:cNvPr id="6" name="Oval 5"/>
          <p:cNvSpPr/>
          <p:nvPr/>
        </p:nvSpPr>
        <p:spPr>
          <a:xfrm>
            <a:off x="838200" y="2152650"/>
            <a:ext cx="76200" cy="7620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2057400"/>
            <a:ext cx="476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3D44"/>
                </a:solidFill>
                <a:latin typeface="맑은 고딕"/>
              </a:rPr>
              <a:t>3x3 캘리브레이션으로 사용자별 시선 기준점을 먼저 확보합니다.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838200" y="2990850"/>
            <a:ext cx="76200" cy="7620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895600"/>
            <a:ext cx="476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3D44"/>
                </a:solidFill>
                <a:latin typeface="맑은 고딕"/>
              </a:rPr>
              <a:t>게임 중 목표 영역을 일정 시간 응시하면 점수를 획득합니다.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38200" y="3829050"/>
            <a:ext cx="76200" cy="7620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700" y="3733799"/>
            <a:ext cx="476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3D44"/>
                </a:solidFill>
                <a:latin typeface="맑은 고딕"/>
              </a:rPr>
              <a:t>제한 시간 안에 점수를 기록하며, 게임처럼 가벼게 눈 상태를 확인할 수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500" y="1905000"/>
            <a:ext cx="4686300" cy="4000500"/>
          </a:xfrm>
          <a:prstGeom prst="roundRect">
            <a:avLst>
              <a:gd name="adj" fmla="val 6000"/>
            </a:avLst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34200" y="2171700"/>
            <a:ext cx="1257300" cy="1257300"/>
          </a:xfrm>
          <a:prstGeom prst="roundRect">
            <a:avLst>
              <a:gd name="adj" fmla="val 8000"/>
            </a:avLst>
          </a:prstGeom>
          <a:solidFill>
            <a:srgbClr val="22252C"/>
          </a:solidFill>
          <a:ln w="12700">
            <a:solidFill>
              <a:srgbClr val="33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6750" y="2171700"/>
            <a:ext cx="1257300" cy="1257300"/>
          </a:xfrm>
          <a:prstGeom prst="roundRect">
            <a:avLst>
              <a:gd name="adj" fmla="val 8000"/>
            </a:avLst>
          </a:prstGeom>
          <a:solidFill>
            <a:srgbClr val="22252C"/>
          </a:solidFill>
          <a:ln w="12700">
            <a:solidFill>
              <a:srgbClr val="33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39300" y="2171700"/>
            <a:ext cx="1257300" cy="1257300"/>
          </a:xfrm>
          <a:prstGeom prst="roundRect">
            <a:avLst>
              <a:gd name="adj" fmla="val 8000"/>
            </a:avLst>
          </a:prstGeom>
          <a:solidFill>
            <a:srgbClr val="22252C"/>
          </a:solidFill>
          <a:ln w="12700">
            <a:solidFill>
              <a:srgbClr val="33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34200" y="3524250"/>
            <a:ext cx="1257300" cy="1257300"/>
          </a:xfrm>
          <a:prstGeom prst="roundRect">
            <a:avLst>
              <a:gd name="adj" fmla="val 8000"/>
            </a:avLst>
          </a:prstGeom>
          <a:solidFill>
            <a:srgbClr val="22252C"/>
          </a:solidFill>
          <a:ln w="12700">
            <a:solidFill>
              <a:srgbClr val="33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6750" y="3524250"/>
            <a:ext cx="1257300" cy="1257300"/>
          </a:xfrm>
          <a:prstGeom prst="roundRect">
            <a:avLst>
              <a:gd name="adj" fmla="val 8000"/>
            </a:avLst>
          </a:prstGeom>
          <a:solidFill>
            <a:srgbClr val="9BE15D"/>
          </a:solidFill>
          <a:ln w="12700">
            <a:solidFill>
              <a:srgbClr val="9BE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6750" y="3524250"/>
            <a:ext cx="1257300" cy="1257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1E24"/>
                </a:solidFill>
                <a:latin typeface="맑은 고딕"/>
              </a:rPr>
              <a:t>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39300" y="3524250"/>
            <a:ext cx="1257300" cy="1257300"/>
          </a:xfrm>
          <a:prstGeom prst="roundRect">
            <a:avLst>
              <a:gd name="adj" fmla="val 8000"/>
            </a:avLst>
          </a:prstGeom>
          <a:solidFill>
            <a:srgbClr val="22252C"/>
          </a:solidFill>
          <a:ln w="12700">
            <a:solidFill>
              <a:srgbClr val="33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34200" y="4876800"/>
            <a:ext cx="1257300" cy="1257300"/>
          </a:xfrm>
          <a:prstGeom prst="roundRect">
            <a:avLst>
              <a:gd name="adj" fmla="val 8000"/>
            </a:avLst>
          </a:prstGeom>
          <a:solidFill>
            <a:srgbClr val="22252C"/>
          </a:solidFill>
          <a:ln w="12700">
            <a:solidFill>
              <a:srgbClr val="33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86750" y="4876800"/>
            <a:ext cx="1257300" cy="1257300"/>
          </a:xfrm>
          <a:prstGeom prst="roundRect">
            <a:avLst>
              <a:gd name="adj" fmla="val 8000"/>
            </a:avLst>
          </a:prstGeom>
          <a:solidFill>
            <a:srgbClr val="22252C"/>
          </a:solidFill>
          <a:ln w="12700">
            <a:solidFill>
              <a:srgbClr val="33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39300" y="4876800"/>
            <a:ext cx="1257300" cy="1257300"/>
          </a:xfrm>
          <a:prstGeom prst="roundRect">
            <a:avLst>
              <a:gd name="adj" fmla="val 8000"/>
            </a:avLst>
          </a:prstGeom>
          <a:solidFill>
            <a:srgbClr val="22252C"/>
          </a:solidFill>
          <a:ln w="12700">
            <a:solidFill>
              <a:srgbClr val="33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8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06 · 기능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525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E24"/>
                </a:solidFill>
                <a:latin typeface="맑은 고딕"/>
              </a:rPr>
              <a:t>눈 깜빡임 모니터링</a:t>
            </a:r>
          </a:p>
        </p:txBody>
      </p:sp>
      <p:sp>
        <p:nvSpPr>
          <p:cNvPr id="6" name="Oval 5"/>
          <p:cNvSpPr/>
          <p:nvPr/>
        </p:nvSpPr>
        <p:spPr>
          <a:xfrm>
            <a:off x="838200" y="2152650"/>
            <a:ext cx="76200" cy="7620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2057400"/>
            <a:ext cx="476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3D44"/>
                </a:solidFill>
                <a:latin typeface="맑은 고딕"/>
              </a:rPr>
              <a:t>EAR(Eye Aspect Ratio)를 기반으로 눈 깜빡임을 실시간으로 감지합니다.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838200" y="2990850"/>
            <a:ext cx="76200" cy="7620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895600"/>
            <a:ext cx="476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3D44"/>
                </a:solidFill>
                <a:latin typeface="맑은 고딕"/>
              </a:rPr>
              <a:t>홈 화면에서 토글 한 번으로 켜고 끌 수 있습니다.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38200" y="3829050"/>
            <a:ext cx="76200" cy="7620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700" y="3733799"/>
            <a:ext cx="476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3D44"/>
                </a:solidFill>
                <a:latin typeface="맑은 고딕"/>
              </a:rPr>
              <a:t>깜빡임 횟수와 상태를 실시간으로 보여주어 평소 습관을 스스로 점검하게 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500" y="1905000"/>
            <a:ext cx="4686300" cy="3619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34200" y="2171700"/>
            <a:ext cx="4152900" cy="742950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24700" y="228600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E24"/>
                </a:solidFill>
                <a:latin typeface="맑은 고딕"/>
              </a:rPr>
              <a:t>눈 깜빡임 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4700" y="253365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078"/>
                </a:solidFill>
                <a:latin typeface="맑은 고딕"/>
              </a:rPr>
              <a:t>실시간 감지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2419350"/>
            <a:ext cx="381000" cy="228600"/>
          </a:xfrm>
          <a:prstGeom prst="roundRect">
            <a:avLst>
              <a:gd name="adj" fmla="val 50000"/>
            </a:avLst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7975" y="2447925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34200" y="3067050"/>
            <a:ext cx="1981199" cy="8001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200400"/>
            <a:ext cx="167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078"/>
                </a:solidFill>
                <a:latin typeface="맑은 고딕"/>
              </a:rPr>
              <a:t>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429000"/>
            <a:ext cx="1676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E24"/>
                </a:solidFill>
                <a:latin typeface="맑은 고딕"/>
              </a:rPr>
              <a:t>0.24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5900" y="3067050"/>
            <a:ext cx="1981199" cy="8001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8300" y="3200400"/>
            <a:ext cx="167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078"/>
                </a:solidFill>
                <a:latin typeface="맑은 고딕"/>
              </a:rPr>
              <a:t>깜빡임 횟수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3429000"/>
            <a:ext cx="1676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E24"/>
                </a:solidFill>
                <a:latin typeface="맑은 고딕"/>
              </a:rPr>
              <a:t>32회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8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07 · 기능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525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E24"/>
                </a:solidFill>
                <a:latin typeface="맑은 고딕"/>
              </a:rPr>
              <a:t>주변 안과 찾기</a:t>
            </a:r>
          </a:p>
        </p:txBody>
      </p:sp>
      <p:sp>
        <p:nvSpPr>
          <p:cNvPr id="6" name="Oval 5"/>
          <p:cNvSpPr/>
          <p:nvPr/>
        </p:nvSpPr>
        <p:spPr>
          <a:xfrm>
            <a:off x="838200" y="2152650"/>
            <a:ext cx="76200" cy="7620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2057400"/>
            <a:ext cx="476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3D44"/>
                </a:solidFill>
                <a:latin typeface="맑은 고딕"/>
              </a:rPr>
              <a:t>브라우저 위치 동의만으로 현재 위치 기준 검색이 시작됩니다.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838200" y="2990850"/>
            <a:ext cx="76200" cy="7620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895600"/>
            <a:ext cx="476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3D44"/>
                </a:solidFill>
                <a:latin typeface="맑은 고딕"/>
              </a:rPr>
              <a:t>건강보험심사평가원(HIRA) 공공데이터를 기반으로 실제 안과 정보를 제공합니다.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38200" y="3829050"/>
            <a:ext cx="76200" cy="76200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700" y="3733799"/>
            <a:ext cx="476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3D44"/>
                </a:solidFill>
                <a:latin typeface="맑은 고딕"/>
              </a:rPr>
              <a:t>지도와 목록에서 가까운 순서대로 확인하고, 바로 다음 진료로 연결할 수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500" y="1905000"/>
            <a:ext cx="4686300" cy="1485900"/>
          </a:xfrm>
          <a:prstGeom prst="roundRect">
            <a:avLst>
              <a:gd name="adj" fmla="val 10000"/>
            </a:avLst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39000" y="2381250"/>
            <a:ext cx="152400" cy="152400"/>
          </a:xfrm>
          <a:prstGeom prst="ellipse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96249" y="2762250"/>
            <a:ext cx="152400" cy="152400"/>
          </a:xfrm>
          <a:prstGeom prst="ellipse">
            <a:avLst/>
          </a:prstGeom>
          <a:solidFill>
            <a:srgbClr val="4F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48750" y="2952750"/>
            <a:ext cx="152400" cy="152400"/>
          </a:xfrm>
          <a:prstGeom prst="ellipse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67500" y="3543300"/>
            <a:ext cx="468630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543300"/>
            <a:ext cx="28575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밝은눈 안과의원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0" y="3543300"/>
            <a:ext cx="25908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350m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0" y="4076699"/>
            <a:ext cx="468630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076699"/>
            <a:ext cx="28575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서울 시티안과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0" y="4076699"/>
            <a:ext cx="25908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720m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500" y="4610100"/>
            <a:ext cx="468630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610100"/>
            <a:ext cx="28575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1E24"/>
                </a:solidFill>
                <a:latin typeface="맑은 고딕"/>
              </a:rPr>
              <a:t>연세드림안과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0" y="4610100"/>
            <a:ext cx="25908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078"/>
                </a:solidFill>
                <a:latin typeface="맑은 고딕"/>
              </a:rPr>
              <a:t>1.1km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88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08 · 기대 효과 &amp;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525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E24"/>
                </a:solidFill>
                <a:latin typeface="맑은 고딕"/>
              </a:rPr>
              <a:t>기대 효과와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80975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F9A1E"/>
                </a:solidFill>
                <a:latin typeface="맑은 고딕"/>
              </a:rPr>
              <a:t>기대 효과</a:t>
            </a:r>
          </a:p>
        </p:txBody>
      </p:sp>
      <p:sp>
        <p:nvSpPr>
          <p:cNvPr id="7" name="Oval 6"/>
          <p:cNvSpPr/>
          <p:nvPr/>
        </p:nvSpPr>
        <p:spPr>
          <a:xfrm>
            <a:off x="838200" y="2200275"/>
            <a:ext cx="66675" cy="66675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9650" y="2133600"/>
            <a:ext cx="457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E24"/>
                </a:solidFill>
                <a:latin typeface="맑은 고딕"/>
              </a:rPr>
              <a:t>조기 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2324100"/>
            <a:ext cx="457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078"/>
                </a:solidFill>
                <a:latin typeface="맑은 고딕"/>
              </a:rPr>
              <a:t>게임형 콘텐츠로 부담 없이 눈 상태를 확인하는 습관을 만듭니다.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38200" y="2943225"/>
            <a:ext cx="66675" cy="66675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9650" y="2876550"/>
            <a:ext cx="457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E24"/>
                </a:solidFill>
                <a:latin typeface="맑은 고딕"/>
              </a:rPr>
              <a:t>접근성 향상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067050"/>
            <a:ext cx="457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078"/>
                </a:solidFill>
                <a:latin typeface="맑은 고딕"/>
              </a:rPr>
              <a:t>설치 없이 브라우저만으로 누구나 이용할 수 있습니다.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838200" y="3686175"/>
            <a:ext cx="66675" cy="66675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650" y="3619500"/>
            <a:ext cx="457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E24"/>
                </a:solidFill>
                <a:latin typeface="맑은 고딕"/>
              </a:rPr>
              <a:t>예방적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3810000"/>
            <a:ext cx="457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078"/>
                </a:solidFill>
                <a:latin typeface="맑은 고딕"/>
              </a:rPr>
              <a:t>안구건조증에서 백내장으로 이어지는 위험을 조기에 관리합니다.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838200" y="4429125"/>
            <a:ext cx="66675" cy="66675"/>
          </a:xfrm>
          <a:prstGeom prst="ellipse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9650" y="4362450"/>
            <a:ext cx="457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E24"/>
                </a:solidFill>
                <a:latin typeface="맑은 고딕"/>
              </a:rPr>
              <a:t>병원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4552950"/>
            <a:ext cx="457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078"/>
                </a:solidFill>
                <a:latin typeface="맑은 고딕"/>
              </a:rPr>
              <a:t>필요할 때 바로 가까운 안과 정보로 연결합니다.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1809750"/>
            <a:ext cx="510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4FBB"/>
                </a:solidFill>
                <a:latin typeface="맑은 고딕"/>
              </a:rPr>
              <a:t>향후 계획</a:t>
            </a:r>
          </a:p>
        </p:txBody>
      </p:sp>
      <p:sp>
        <p:nvSpPr>
          <p:cNvPr id="20" name="Oval 19"/>
          <p:cNvSpPr/>
          <p:nvPr/>
        </p:nvSpPr>
        <p:spPr>
          <a:xfrm>
            <a:off x="6248400" y="2200275"/>
            <a:ext cx="66675" cy="66675"/>
          </a:xfrm>
          <a:prstGeom prst="ellipse">
            <a:avLst/>
          </a:prstGeom>
          <a:solidFill>
            <a:srgbClr val="1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850" y="2133600"/>
            <a:ext cx="49339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E24"/>
                </a:solidFill>
                <a:latin typeface="맑은 고딕"/>
              </a:rPr>
              <a:t>사진 기반 위험도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2324100"/>
            <a:ext cx="4933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078"/>
                </a:solidFill>
                <a:latin typeface="맑은 고딕"/>
              </a:rPr>
              <a:t>백내장 위험도 · 충혈 여부를 사진으로 분석하는 기능을 추가합니다.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6248400" y="2943225"/>
            <a:ext cx="66675" cy="66675"/>
          </a:xfrm>
          <a:prstGeom prst="ellipse">
            <a:avLst/>
          </a:prstGeom>
          <a:solidFill>
            <a:srgbClr val="1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850" y="2876550"/>
            <a:ext cx="49339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E24"/>
                </a:solidFill>
                <a:latin typeface="맑은 고딕"/>
              </a:rPr>
              <a:t>실 로그인 · DB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3067050"/>
            <a:ext cx="4933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078"/>
                </a:solidFill>
                <a:latin typeface="맑은 고딕"/>
              </a:rPr>
              <a:t>실제 Google/Kakao 로그인과 사용자 데이터베이스를 연동합니다.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6248400" y="3686175"/>
            <a:ext cx="66675" cy="66675"/>
          </a:xfrm>
          <a:prstGeom prst="ellipse">
            <a:avLst/>
          </a:prstGeom>
          <a:solidFill>
            <a:srgbClr val="1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850" y="3619500"/>
            <a:ext cx="49339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E24"/>
                </a:solidFill>
                <a:latin typeface="맑은 고딕"/>
              </a:rPr>
              <a:t>개인별 히스토리 제공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850" y="3810000"/>
            <a:ext cx="4933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078"/>
                </a:solidFill>
                <a:latin typeface="맑은 고딕"/>
              </a:rPr>
              <a:t>게임 기록을 바탕으로 개인별 통계 · 변화 추이를 제공합니다.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8200" y="5334000"/>
            <a:ext cx="10515600" cy="571500"/>
          </a:xfrm>
          <a:prstGeom prst="roundRect">
            <a:avLst>
              <a:gd name="adj" fmla="val 16000"/>
            </a:avLst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200" y="5334000"/>
            <a:ext cx="105156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Eye God, 눈 건강을 지키는 첫걸음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88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