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8200" y="571500"/>
            <a:ext cx="266700" cy="38100"/>
          </a:xfrm>
          <a:prstGeom prst="rect">
            <a:avLst/>
          </a:prstGeom>
          <a:solidFill>
            <a:srgbClr val="9BE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19200" y="495299"/>
            <a:ext cx="5715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B7078"/>
                </a:solidFill>
                <a:latin typeface="맑은 고딕"/>
              </a:rPr>
              <a:t>부록 · 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914400"/>
            <a:ext cx="10477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B1E24"/>
                </a:solidFill>
                <a:latin typeface="맑은 고딕"/>
              </a:rPr>
              <a:t>기술 스택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1409700"/>
            <a:ext cx="95250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B7078"/>
                </a:solidFill>
                <a:latin typeface="맑은 고딕"/>
              </a:rPr>
              <a:t>핵심 기능 구현부터 향후 계획까지, Eye God를 구성하는 기술을 정리했습니다. (파란색은 향후 도입 예정)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8200" y="2000250"/>
            <a:ext cx="3378200" cy="204787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7749" y="2209800"/>
            <a:ext cx="76200" cy="76200"/>
          </a:xfrm>
          <a:prstGeom prst="ellipse">
            <a:avLst/>
          </a:prstGeom>
          <a:solidFill>
            <a:srgbClr val="4F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19200" y="2152650"/>
            <a:ext cx="28067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E24"/>
                </a:solidFill>
                <a:latin typeface="맑은 고딕"/>
              </a:rPr>
              <a:t>Computer Vision · AI</a:t>
            </a:r>
          </a:p>
        </p:txBody>
      </p:sp>
      <p:sp>
        <p:nvSpPr>
          <p:cNvPr id="10" name="Oval 9"/>
          <p:cNvSpPr/>
          <p:nvPr/>
        </p:nvSpPr>
        <p:spPr>
          <a:xfrm>
            <a:off x="1047749" y="2552700"/>
            <a:ext cx="47625" cy="47625"/>
          </a:xfrm>
          <a:prstGeom prst="ellipse">
            <a:avLst/>
          </a:prstGeom>
          <a:solidFill>
            <a:srgbClr val="C7C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2050" y="2495550"/>
            <a:ext cx="28448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B1E24"/>
                </a:solidFill>
                <a:latin typeface="맑은 고딕"/>
              </a:rPr>
              <a:t>MediaPipe Face Landmarker</a:t>
            </a:r>
          </a:p>
        </p:txBody>
      </p:sp>
      <p:sp>
        <p:nvSpPr>
          <p:cNvPr id="12" name="Oval 11"/>
          <p:cNvSpPr/>
          <p:nvPr/>
        </p:nvSpPr>
        <p:spPr>
          <a:xfrm>
            <a:off x="1047749" y="2876550"/>
            <a:ext cx="47625" cy="47625"/>
          </a:xfrm>
          <a:prstGeom prst="ellipse">
            <a:avLst/>
          </a:prstGeom>
          <a:solidFill>
            <a:srgbClr val="C7C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2050" y="2819400"/>
            <a:ext cx="28448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B1E24"/>
                </a:solidFill>
                <a:latin typeface="맑은 고딕"/>
              </a:rPr>
              <a:t>OpenCV</a:t>
            </a:r>
          </a:p>
        </p:txBody>
      </p:sp>
      <p:sp>
        <p:nvSpPr>
          <p:cNvPr id="14" name="Oval 13"/>
          <p:cNvSpPr/>
          <p:nvPr/>
        </p:nvSpPr>
        <p:spPr>
          <a:xfrm>
            <a:off x="1047749" y="3200400"/>
            <a:ext cx="47625" cy="47625"/>
          </a:xfrm>
          <a:prstGeom prst="ellipse">
            <a:avLst/>
          </a:prstGeom>
          <a:solidFill>
            <a:srgbClr val="C7C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62050" y="3143250"/>
            <a:ext cx="28448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B4FBB"/>
                </a:solidFill>
                <a:latin typeface="맑은 고딕"/>
              </a:rPr>
              <a:t>YOLO26 (예정 · 사진 분석용)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6900" y="2000250"/>
            <a:ext cx="3378200" cy="204787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16450" y="2209800"/>
            <a:ext cx="76200" cy="76200"/>
          </a:xfrm>
          <a:prstGeom prst="ellipse">
            <a:avLst/>
          </a:prstGeom>
          <a:solidFill>
            <a:srgbClr val="4F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87900" y="2152650"/>
            <a:ext cx="28067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E24"/>
                </a:solidFill>
                <a:latin typeface="맑은 고딕"/>
              </a:rPr>
              <a:t>Backend</a:t>
            </a:r>
          </a:p>
        </p:txBody>
      </p:sp>
      <p:sp>
        <p:nvSpPr>
          <p:cNvPr id="19" name="Oval 18"/>
          <p:cNvSpPr/>
          <p:nvPr/>
        </p:nvSpPr>
        <p:spPr>
          <a:xfrm>
            <a:off x="4616450" y="2552700"/>
            <a:ext cx="47625" cy="47625"/>
          </a:xfrm>
          <a:prstGeom prst="ellipse">
            <a:avLst/>
          </a:prstGeom>
          <a:solidFill>
            <a:srgbClr val="C7C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30750" y="2495550"/>
            <a:ext cx="28448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B1E24"/>
                </a:solidFill>
                <a:latin typeface="맑은 고딕"/>
              </a:rPr>
              <a:t>FastAPI</a:t>
            </a:r>
          </a:p>
        </p:txBody>
      </p:sp>
      <p:sp>
        <p:nvSpPr>
          <p:cNvPr id="21" name="Oval 20"/>
          <p:cNvSpPr/>
          <p:nvPr/>
        </p:nvSpPr>
        <p:spPr>
          <a:xfrm>
            <a:off x="4616450" y="2876550"/>
            <a:ext cx="47625" cy="47625"/>
          </a:xfrm>
          <a:prstGeom prst="ellipse">
            <a:avLst/>
          </a:prstGeom>
          <a:solidFill>
            <a:srgbClr val="C7C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30750" y="2819400"/>
            <a:ext cx="28448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B1E24"/>
                </a:solidFill>
                <a:latin typeface="맑은 고딕"/>
              </a:rPr>
              <a:t>Uvicorn (ASGI 서버)</a:t>
            </a:r>
          </a:p>
        </p:txBody>
      </p:sp>
      <p:sp>
        <p:nvSpPr>
          <p:cNvPr id="23" name="Oval 22"/>
          <p:cNvSpPr/>
          <p:nvPr/>
        </p:nvSpPr>
        <p:spPr>
          <a:xfrm>
            <a:off x="4616450" y="3200400"/>
            <a:ext cx="47625" cy="47625"/>
          </a:xfrm>
          <a:prstGeom prst="ellipse">
            <a:avLst/>
          </a:prstGeom>
          <a:solidFill>
            <a:srgbClr val="C7C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30750" y="3143250"/>
            <a:ext cx="28448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B1E24"/>
                </a:solidFill>
                <a:latin typeface="맑은 고딕"/>
              </a:rPr>
              <a:t>WebSocket (실시간 프레임 스트리밍)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75600" y="2000250"/>
            <a:ext cx="3378200" cy="204787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185150" y="2209800"/>
            <a:ext cx="76200" cy="76200"/>
          </a:xfrm>
          <a:prstGeom prst="ellipse">
            <a:avLst/>
          </a:prstGeom>
          <a:solidFill>
            <a:srgbClr val="4F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56600" y="2152650"/>
            <a:ext cx="28067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E24"/>
                </a:solidFill>
                <a:latin typeface="맑은 고딕"/>
              </a:rPr>
              <a:t>Database</a:t>
            </a:r>
          </a:p>
        </p:txBody>
      </p:sp>
      <p:sp>
        <p:nvSpPr>
          <p:cNvPr id="28" name="Oval 27"/>
          <p:cNvSpPr/>
          <p:nvPr/>
        </p:nvSpPr>
        <p:spPr>
          <a:xfrm>
            <a:off x="8185150" y="2552700"/>
            <a:ext cx="47625" cy="47625"/>
          </a:xfrm>
          <a:prstGeom prst="ellipse">
            <a:avLst/>
          </a:prstGeom>
          <a:solidFill>
            <a:srgbClr val="C7C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99450" y="2495550"/>
            <a:ext cx="28448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B1E24"/>
                </a:solidFill>
                <a:latin typeface="맑은 고딕"/>
              </a:rPr>
              <a:t>localStorage (현재 · 목업 저장)</a:t>
            </a:r>
          </a:p>
        </p:txBody>
      </p:sp>
      <p:sp>
        <p:nvSpPr>
          <p:cNvPr id="30" name="Oval 29"/>
          <p:cNvSpPr/>
          <p:nvPr/>
        </p:nvSpPr>
        <p:spPr>
          <a:xfrm>
            <a:off x="8185150" y="2876550"/>
            <a:ext cx="47625" cy="47625"/>
          </a:xfrm>
          <a:prstGeom prst="ellipse">
            <a:avLst/>
          </a:prstGeom>
          <a:solidFill>
            <a:srgbClr val="C7C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99450" y="2819400"/>
            <a:ext cx="28448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B4FBB"/>
                </a:solidFill>
                <a:latin typeface="맑은 고딕"/>
              </a:rPr>
              <a:t>SQLite / MySQL (예정 · 사용자·기록 저장)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8200" y="4238625"/>
            <a:ext cx="3378200" cy="204787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47749" y="4448175"/>
            <a:ext cx="76200" cy="76200"/>
          </a:xfrm>
          <a:prstGeom prst="ellipse">
            <a:avLst/>
          </a:prstGeom>
          <a:solidFill>
            <a:srgbClr val="4F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19200" y="4391025"/>
            <a:ext cx="28067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E24"/>
                </a:solidFill>
                <a:latin typeface="맑은 고딕"/>
              </a:rPr>
              <a:t>Frontend</a:t>
            </a:r>
          </a:p>
        </p:txBody>
      </p:sp>
      <p:sp>
        <p:nvSpPr>
          <p:cNvPr id="35" name="Oval 34"/>
          <p:cNvSpPr/>
          <p:nvPr/>
        </p:nvSpPr>
        <p:spPr>
          <a:xfrm>
            <a:off x="1047749" y="4791075"/>
            <a:ext cx="47625" cy="47625"/>
          </a:xfrm>
          <a:prstGeom prst="ellipse">
            <a:avLst/>
          </a:prstGeom>
          <a:solidFill>
            <a:srgbClr val="C7C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62050" y="4733925"/>
            <a:ext cx="28448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B1E24"/>
                </a:solidFill>
                <a:latin typeface="맑은 고딕"/>
              </a:rPr>
              <a:t>HTML / CSS / JavaScript (Vanilla)</a:t>
            </a:r>
          </a:p>
        </p:txBody>
      </p:sp>
      <p:sp>
        <p:nvSpPr>
          <p:cNvPr id="37" name="Oval 36"/>
          <p:cNvSpPr/>
          <p:nvPr/>
        </p:nvSpPr>
        <p:spPr>
          <a:xfrm>
            <a:off x="1047749" y="5114925"/>
            <a:ext cx="47625" cy="47625"/>
          </a:xfrm>
          <a:prstGeom prst="ellipse">
            <a:avLst/>
          </a:prstGeom>
          <a:solidFill>
            <a:srgbClr val="C7C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62050" y="5057775"/>
            <a:ext cx="28448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7078"/>
                </a:solidFill>
                <a:latin typeface="맑은 고딕"/>
              </a:rPr>
              <a:t>별도 빌드 도구 없음 · 정적 파일 서빙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06900" y="4238625"/>
            <a:ext cx="3378200" cy="204787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616450" y="4448175"/>
            <a:ext cx="76200" cy="76200"/>
          </a:xfrm>
          <a:prstGeom prst="ellipse">
            <a:avLst/>
          </a:prstGeom>
          <a:solidFill>
            <a:srgbClr val="4F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87900" y="4391025"/>
            <a:ext cx="28067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E24"/>
                </a:solidFill>
                <a:latin typeface="맑은 고딕"/>
              </a:rPr>
              <a:t>외부 API · 공공데이터</a:t>
            </a:r>
          </a:p>
        </p:txBody>
      </p:sp>
      <p:sp>
        <p:nvSpPr>
          <p:cNvPr id="42" name="Oval 41"/>
          <p:cNvSpPr/>
          <p:nvPr/>
        </p:nvSpPr>
        <p:spPr>
          <a:xfrm>
            <a:off x="4616450" y="4791075"/>
            <a:ext cx="47625" cy="47625"/>
          </a:xfrm>
          <a:prstGeom prst="ellipse">
            <a:avLst/>
          </a:prstGeom>
          <a:solidFill>
            <a:srgbClr val="C7C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30750" y="4733925"/>
            <a:ext cx="28448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B1E24"/>
                </a:solidFill>
                <a:latin typeface="맑은 고딕"/>
              </a:rPr>
              <a:t>HIRA 병원정보 API (건강보험심사평가원)</a:t>
            </a:r>
          </a:p>
        </p:txBody>
      </p:sp>
      <p:sp>
        <p:nvSpPr>
          <p:cNvPr id="44" name="Oval 43"/>
          <p:cNvSpPr/>
          <p:nvPr/>
        </p:nvSpPr>
        <p:spPr>
          <a:xfrm>
            <a:off x="4616450" y="5114925"/>
            <a:ext cx="47625" cy="47625"/>
          </a:xfrm>
          <a:prstGeom prst="ellipse">
            <a:avLst/>
          </a:prstGeom>
          <a:solidFill>
            <a:srgbClr val="C7C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30750" y="5057775"/>
            <a:ext cx="28448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B1E24"/>
                </a:solidFill>
                <a:latin typeface="맑은 고딕"/>
              </a:rPr>
              <a:t>Naver Maps JS SDK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975600" y="4238625"/>
            <a:ext cx="3378200" cy="204787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185150" y="4448175"/>
            <a:ext cx="76200" cy="76200"/>
          </a:xfrm>
          <a:prstGeom prst="ellipse">
            <a:avLst/>
          </a:prstGeom>
          <a:solidFill>
            <a:srgbClr val="4F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56600" y="4391025"/>
            <a:ext cx="28067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E24"/>
                </a:solidFill>
                <a:latin typeface="맑은 고딕"/>
              </a:rPr>
              <a:t>플랫폼 · 런타임</a:t>
            </a:r>
          </a:p>
        </p:txBody>
      </p:sp>
      <p:sp>
        <p:nvSpPr>
          <p:cNvPr id="49" name="Oval 48"/>
          <p:cNvSpPr/>
          <p:nvPr/>
        </p:nvSpPr>
        <p:spPr>
          <a:xfrm>
            <a:off x="8185150" y="4791075"/>
            <a:ext cx="47625" cy="47625"/>
          </a:xfrm>
          <a:prstGeom prst="ellipse">
            <a:avLst/>
          </a:prstGeom>
          <a:solidFill>
            <a:srgbClr val="C7C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99450" y="4733925"/>
            <a:ext cx="28448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B1E24"/>
                </a:solidFill>
                <a:latin typeface="맑은 고딕"/>
              </a:rPr>
              <a:t>Python 3.12</a:t>
            </a:r>
          </a:p>
        </p:txBody>
      </p:sp>
      <p:sp>
        <p:nvSpPr>
          <p:cNvPr id="51" name="Oval 50"/>
          <p:cNvSpPr/>
          <p:nvPr/>
        </p:nvSpPr>
        <p:spPr>
          <a:xfrm>
            <a:off x="8185150" y="5114925"/>
            <a:ext cx="47625" cy="47625"/>
          </a:xfrm>
          <a:prstGeom prst="ellipse">
            <a:avLst/>
          </a:prstGeom>
          <a:solidFill>
            <a:srgbClr val="C7C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99450" y="5057775"/>
            <a:ext cx="28448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B1E24"/>
                </a:solidFill>
                <a:latin typeface="맑은 고딕"/>
              </a:rPr>
              <a:t>pyobjc(macOS) / screeninfo(Windows)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8200" y="6362700"/>
            <a:ext cx="2857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9AA0A8"/>
                </a:solidFill>
                <a:latin typeface="맑은 고딕"/>
              </a:rPr>
              <a:t>EYE GOD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20000" y="6362700"/>
            <a:ext cx="3733799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AA0A8"/>
                </a:solidFill>
                <a:latin typeface="맑은 고딕"/>
              </a:rPr>
              <a:t>TECH STACK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